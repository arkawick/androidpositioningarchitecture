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3" r:id="rId1"/>
  </p:sldMasterIdLst>
  <p:sldIdLst>
    <p:sldId id="258" r:id="rId2"/>
    <p:sldId id="269" r:id="rId3"/>
    <p:sldId id="260" r:id="rId4"/>
    <p:sldId id="262" r:id="rId5"/>
    <p:sldId id="263" r:id="rId6"/>
    <p:sldId id="264" r:id="rId7"/>
    <p:sldId id="265" r:id="rId8"/>
    <p:sldId id="266" r:id="rId9"/>
    <p:sldId id="267" r:id="rId10"/>
    <p:sldId id="275" r:id="rId11"/>
    <p:sldId id="274" r:id="rId12"/>
    <p:sldId id="268" r:id="rId13"/>
    <p:sldId id="270" r:id="rId14"/>
    <p:sldId id="272" r:id="rId15"/>
    <p:sldId id="271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4851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6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45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0797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932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2772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4427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62483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74700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0873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901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6250641D-E428-4AA0-BD0E-1401802377E7}" type="datetimeFigureOut">
              <a:rPr lang="en-IN" smtClean="0"/>
              <a:t>06-01-2026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AAEA8EC-6AE1-4EE5-9E8C-3531E11A8E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0392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64" r:id="rId1"/>
    <p:sldLayoutId id="2147483865" r:id="rId2"/>
    <p:sldLayoutId id="2147483866" r:id="rId3"/>
    <p:sldLayoutId id="2147483867" r:id="rId4"/>
    <p:sldLayoutId id="2147483868" r:id="rId5"/>
    <p:sldLayoutId id="2147483869" r:id="rId6"/>
    <p:sldLayoutId id="2147483870" r:id="rId7"/>
    <p:sldLayoutId id="2147483871" r:id="rId8"/>
    <p:sldLayoutId id="2147483872" r:id="rId9"/>
    <p:sldLayoutId id="2147483873" r:id="rId10"/>
    <p:sldLayoutId id="2147483874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0D5F9-995F-442A-9411-D684AE2BC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528905"/>
            <a:ext cx="8991600" cy="1645920"/>
          </a:xfrm>
        </p:spPr>
        <p:txBody>
          <a:bodyPr>
            <a:normAutofit/>
          </a:bodyPr>
          <a:lstStyle/>
          <a:p>
            <a:r>
              <a:rPr lang="en-IN" sz="2400" b="1" dirty="0"/>
              <a:t>Android  Positioning  Architecture</a:t>
            </a:r>
            <a:endParaRPr lang="en-IN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BC381C-1BFD-4A5B-BF22-FE0B4D1038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3777509"/>
            <a:ext cx="6801612" cy="1239894"/>
          </a:xfrm>
        </p:spPr>
        <p:txBody>
          <a:bodyPr/>
          <a:lstStyle/>
          <a:p>
            <a:r>
              <a:rPr lang="en-GB" b="1" dirty="0"/>
              <a:t>How Your Phone Determines Your Position</a:t>
            </a:r>
          </a:p>
          <a:p>
            <a:r>
              <a:rPr lang="en-IN" b="1" dirty="0"/>
              <a:t>Android, Qualcomm &amp; SUPL Location Architecture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0052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7F3FD-51E8-4ABB-8E17-96732F882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543297"/>
            <a:ext cx="4486656" cy="1141497"/>
          </a:xfrm>
        </p:spPr>
        <p:txBody>
          <a:bodyPr/>
          <a:lstStyle/>
          <a:p>
            <a:r>
              <a:rPr lang="en-IN" b="1" dirty="0"/>
              <a:t>Agenda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DA90C-34B2-4445-BA11-32FB92808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Introduction - The Location Challenge</a:t>
            </a:r>
          </a:p>
          <a:p>
            <a:r>
              <a:rPr lang="en-IN" dirty="0"/>
              <a:t>System Architecture Overview</a:t>
            </a:r>
          </a:p>
          <a:p>
            <a:r>
              <a:rPr lang="en-IN" dirty="0"/>
              <a:t>Android AOSP Stack</a:t>
            </a:r>
          </a:p>
          <a:p>
            <a:r>
              <a:rPr lang="en-IN" dirty="0"/>
              <a:t>Qualcomm Hardware Architecture</a:t>
            </a:r>
          </a:p>
          <a:p>
            <a:r>
              <a:rPr lang="en-IN" dirty="0"/>
              <a:t>SUPL Protocol Deep Dive</a:t>
            </a:r>
          </a:p>
          <a:p>
            <a:r>
              <a:rPr lang="en-IN" dirty="0"/>
              <a:t>Complete Location Request Flow</a:t>
            </a:r>
          </a:p>
          <a:p>
            <a:r>
              <a:rPr lang="en-IN" dirty="0"/>
              <a:t>Position Calculation &amp; Mathematics</a:t>
            </a:r>
          </a:p>
          <a:p>
            <a:r>
              <a:rPr lang="en-IN" dirty="0"/>
              <a:t>Performance &amp; Real-World Metrics</a:t>
            </a:r>
          </a:p>
          <a:p>
            <a:r>
              <a:rPr lang="en-IN" dirty="0"/>
              <a:t>Summary &amp; Key Takeaways</a:t>
            </a:r>
          </a:p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914FE1-D4AF-4A29-B918-DF4F663132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5568" y="2098190"/>
            <a:ext cx="3794760" cy="956095"/>
          </a:xfrm>
        </p:spPr>
        <p:txBody>
          <a:bodyPr/>
          <a:lstStyle/>
          <a:p>
            <a:r>
              <a:rPr lang="en-GB" b="1" dirty="0"/>
              <a:t>Complete Technical Deep Dive: How Position is Determined</a:t>
            </a:r>
          </a:p>
          <a:p>
            <a:endParaRPr lang="en-GB" b="1" dirty="0"/>
          </a:p>
          <a:p>
            <a:endParaRPr lang="en-GB" b="1" dirty="0"/>
          </a:p>
          <a:p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005806-CCF4-42C1-8766-FF43F201D7CD}"/>
              </a:ext>
            </a:extLst>
          </p:cNvPr>
          <p:cNvSpPr/>
          <p:nvPr/>
        </p:nvSpPr>
        <p:spPr>
          <a:xfrm>
            <a:off x="640080" y="3054285"/>
            <a:ext cx="514797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Topics Covered: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Android AOSP Location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Qualcomm</a:t>
            </a: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 Modem &amp; GNSS Integration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SUPL (Secure User Plane Location)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Complete Flow: Application → Satellite → Position</a:t>
            </a:r>
            <a:endParaRPr lang="en-IN" b="0" i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377158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The Location Challenge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5BC44-99F5-49E8-8A51-61FFBA2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/>
          <a:lstStyle/>
          <a:p>
            <a:r>
              <a:rPr lang="en-GB" b="1" dirty="0"/>
              <a:t>Why is GPS Positioning Hard?</a:t>
            </a:r>
          </a:p>
          <a:p>
            <a:pPr marL="228600" lvl="1" indent="0">
              <a:buNone/>
            </a:pPr>
            <a:r>
              <a:rPr lang="en-GB" b="1" dirty="0"/>
              <a:t>Traditional GPS Problems:</a:t>
            </a:r>
            <a:endParaRPr lang="en-GB" dirty="0"/>
          </a:p>
          <a:p>
            <a:pPr lvl="3"/>
            <a:r>
              <a:rPr lang="en-GB" b="1" dirty="0"/>
              <a:t>Slow Time To First Fix (TTFF):</a:t>
            </a:r>
            <a:r>
              <a:rPr lang="en-GB" dirty="0"/>
              <a:t> 30-60+ seconds cold start</a:t>
            </a:r>
          </a:p>
          <a:p>
            <a:pPr lvl="3"/>
            <a:r>
              <a:rPr lang="en-GB" b="1" dirty="0"/>
              <a:t>Weak Signals:</a:t>
            </a:r>
            <a:r>
              <a:rPr lang="en-GB" dirty="0"/>
              <a:t> -160 dBm (weaker than a 25W bulb on the Moon)</a:t>
            </a:r>
          </a:p>
          <a:p>
            <a:pPr lvl="3"/>
            <a:r>
              <a:rPr lang="en-GB" b="1" dirty="0"/>
              <a:t>Data Download:</a:t>
            </a:r>
            <a:r>
              <a:rPr lang="en-GB" dirty="0"/>
              <a:t> 12.5-30 minutes for almanac/ephemeris from satellites</a:t>
            </a:r>
          </a:p>
          <a:p>
            <a:pPr lvl="3"/>
            <a:r>
              <a:rPr lang="en-GB" b="1" dirty="0"/>
              <a:t>High Power Consumption:</a:t>
            </a:r>
            <a:r>
              <a:rPr lang="en-GB" dirty="0"/>
              <a:t> Extended satellite search drains battery</a:t>
            </a:r>
          </a:p>
          <a:p>
            <a:pPr lvl="3"/>
            <a:r>
              <a:rPr lang="en-GB" b="1" dirty="0"/>
              <a:t>Poor Indoor Performance:</a:t>
            </a:r>
            <a:r>
              <a:rPr lang="en-GB" dirty="0"/>
              <a:t> Signals blocked by buildings</a:t>
            </a:r>
          </a:p>
          <a:p>
            <a:pPr marL="228600" lvl="1" indent="0">
              <a:buNone/>
            </a:pPr>
            <a:r>
              <a:rPr lang="en-GB" b="1" dirty="0"/>
              <a:t>Result:</a:t>
            </a:r>
            <a:r>
              <a:rPr lang="en-GB" dirty="0"/>
              <a:t> Bad user experience without assistance!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Solution:  A-GPS with SUPL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7245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Assisted GPS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5BC44-99F5-49E8-8A51-61FFBA2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Assisted GPS (A-GPS)</a:t>
            </a:r>
          </a:p>
          <a:p>
            <a:r>
              <a:rPr lang="en-IN" b="1" dirty="0"/>
              <a:t>Key Concept:</a:t>
            </a:r>
            <a:r>
              <a:rPr lang="en-IN" dirty="0"/>
              <a:t> </a:t>
            </a:r>
          </a:p>
          <a:p>
            <a:pPr lvl="1"/>
            <a:r>
              <a:rPr lang="en-IN" dirty="0"/>
              <a:t>Download assistance data over fast internet instead of slow satellite signals</a:t>
            </a:r>
          </a:p>
          <a:p>
            <a:r>
              <a:rPr lang="en-IN" b="1" dirty="0"/>
              <a:t>Speed Comparison:</a:t>
            </a:r>
            <a:endParaRPr lang="en-IN" dirty="0"/>
          </a:p>
          <a:p>
            <a:pPr lvl="1"/>
            <a:r>
              <a:rPr lang="en-IN" dirty="0"/>
              <a:t>Satellite broadcast: 50 bits/second</a:t>
            </a:r>
          </a:p>
          <a:p>
            <a:pPr lvl="1"/>
            <a:r>
              <a:rPr lang="en-IN" dirty="0"/>
              <a:t>4G/5G internet: 20+ Mbps (400,000× faster!)</a:t>
            </a:r>
          </a:p>
          <a:p>
            <a:r>
              <a:rPr lang="en-IN" b="1" dirty="0"/>
              <a:t>Result:</a:t>
            </a:r>
            <a:endParaRPr lang="en-IN" dirty="0"/>
          </a:p>
          <a:p>
            <a:pPr lvl="1"/>
            <a:r>
              <a:rPr lang="en-IN" dirty="0"/>
              <a:t>TTFF: 5-10 seconds (vs 30-60 seconds)</a:t>
            </a:r>
          </a:p>
          <a:p>
            <a:pPr lvl="1"/>
            <a:r>
              <a:rPr lang="en-IN" dirty="0"/>
              <a:t>90% less power consumption</a:t>
            </a:r>
          </a:p>
          <a:p>
            <a:pPr lvl="1"/>
            <a:r>
              <a:rPr lang="en-IN" dirty="0"/>
              <a:t>Works in weak signal environments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45659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Complete System Overview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EA9C8BF-0F1C-4B6A-BB30-22EA5D4B17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4846" y="1432710"/>
            <a:ext cx="3215216" cy="4822825"/>
          </a:xfrm>
        </p:spPr>
      </p:pic>
    </p:spTree>
    <p:extLst>
      <p:ext uri="{BB962C8B-B14F-4D97-AF65-F5344CB8AC3E}">
        <p14:creationId xmlns:p14="http://schemas.microsoft.com/office/powerpoint/2010/main" val="439930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5BC44-99F5-49E8-8A51-61FFBA2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4807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GB" dirty="0"/>
              <a:t> 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6D3867-5ED9-4163-A9E5-CE9082F9A0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37"/>
          <a:stretch/>
        </p:blipFill>
        <p:spPr>
          <a:xfrm>
            <a:off x="293802" y="52506"/>
            <a:ext cx="11604395" cy="6419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53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Position Calculation Methods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5118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3989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6561-7347-415E-8BBB-9CF4E3D98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85840"/>
            <a:ext cx="7729728" cy="732133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SUPL Introduction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5BC44-99F5-49E8-8A51-61FFBA2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12" y="1508288"/>
            <a:ext cx="11104775" cy="4822469"/>
          </a:xfrm>
        </p:spPr>
        <p:txBody>
          <a:bodyPr/>
          <a:lstStyle/>
          <a:p>
            <a:r>
              <a:rPr lang="en-IN" b="1" dirty="0"/>
              <a:t>Secure User Plane Location Protocol</a:t>
            </a:r>
            <a:endParaRPr lang="en-IN" dirty="0"/>
          </a:p>
          <a:p>
            <a:r>
              <a:rPr lang="en-IN" b="1" dirty="0"/>
              <a:t>What is SUPL?</a:t>
            </a:r>
            <a:endParaRPr lang="en-IN" dirty="0"/>
          </a:p>
          <a:p>
            <a:pPr lvl="1"/>
            <a:r>
              <a:rPr lang="en-IN" dirty="0"/>
              <a:t>OMA (Open Mobile Alliance) standard</a:t>
            </a:r>
          </a:p>
          <a:p>
            <a:pPr lvl="1"/>
            <a:r>
              <a:rPr lang="en-IN" dirty="0"/>
              <a:t>IP-based location protocol using User Plane</a:t>
            </a:r>
          </a:p>
          <a:p>
            <a:pPr lvl="1"/>
            <a:r>
              <a:rPr lang="en-IN" dirty="0"/>
              <a:t>Provides Assisted GNSS (A-GNSS) data</a:t>
            </a:r>
          </a:p>
          <a:p>
            <a:pPr lvl="1"/>
            <a:r>
              <a:rPr lang="en-IN" dirty="0"/>
              <a:t>Faster TTFF and improved accuracy</a:t>
            </a:r>
          </a:p>
          <a:p>
            <a:r>
              <a:rPr lang="en-IN" b="1" dirty="0"/>
              <a:t>Key Principle:</a:t>
            </a:r>
            <a:r>
              <a:rPr lang="en-IN" dirty="0"/>
              <a:t> Use existing IP connectivity (cellular data/</a:t>
            </a:r>
            <a:r>
              <a:rPr lang="en-IN" dirty="0" err="1"/>
              <a:t>WiFi</a:t>
            </a:r>
            <a:r>
              <a:rPr lang="en-IN" dirty="0"/>
              <a:t>) to deliver GPS assistance data instead of downloading it slowly from satellites.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9762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550EEF-1396-4C00-9767-008BA2D58D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84"/>
          <a:stretch/>
        </p:blipFill>
        <p:spPr>
          <a:xfrm>
            <a:off x="1570348" y="-367380"/>
            <a:ext cx="9051303" cy="6975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267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7D62C3-378A-420D-8543-D3A35D19E6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54"/>
          <a:stretch/>
        </p:blipFill>
        <p:spPr>
          <a:xfrm>
            <a:off x="2292284" y="776599"/>
            <a:ext cx="7607431" cy="437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14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8671B3-97C9-48D4-A9AE-52D4028A98A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64"/>
          <a:stretch/>
        </p:blipFill>
        <p:spPr>
          <a:xfrm>
            <a:off x="1395166" y="171392"/>
            <a:ext cx="9916801" cy="6163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618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20060F-29A4-441D-95CA-409A71BEB4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754"/>
          <a:stretch/>
        </p:blipFill>
        <p:spPr>
          <a:xfrm>
            <a:off x="1408285" y="453452"/>
            <a:ext cx="9375430" cy="496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251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33034B-6AFD-4A1D-895F-D049F285BB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34"/>
          <a:stretch/>
        </p:blipFill>
        <p:spPr>
          <a:xfrm>
            <a:off x="1151739" y="355453"/>
            <a:ext cx="9888521" cy="578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104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FD59BF-614E-4F69-88C4-3B09C92A9F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51"/>
          <a:stretch/>
        </p:blipFill>
        <p:spPr>
          <a:xfrm>
            <a:off x="1466850" y="544398"/>
            <a:ext cx="9258300" cy="495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55470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635D4D"/>
      </a:dk2>
      <a:lt2>
        <a:srgbClr val="D8D6BA"/>
      </a:lt2>
      <a:accent1>
        <a:srgbClr val="9CBEBD"/>
      </a:accent1>
      <a:accent2>
        <a:srgbClr val="D2CB6C"/>
      </a:accent2>
      <a:accent3>
        <a:srgbClr val="9D9A93"/>
      </a:accent3>
      <a:accent4>
        <a:srgbClr val="C89F5D"/>
      </a:accent4>
      <a:accent5>
        <a:srgbClr val="A9A57C"/>
      </a:accent5>
      <a:accent6>
        <a:srgbClr val="95A39D"/>
      </a:accent6>
      <a:hlink>
        <a:srgbClr val="D25814"/>
      </a:hlink>
      <a:folHlink>
        <a:srgbClr val="849A0A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126</TotalTime>
  <Words>164</Words>
  <Application>Microsoft Office PowerPoint</Application>
  <PresentationFormat>Widescreen</PresentationFormat>
  <Paragraphs>53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-apple-system</vt:lpstr>
      <vt:lpstr>Arial</vt:lpstr>
      <vt:lpstr>Gill Sans MT</vt:lpstr>
      <vt:lpstr>Parcel</vt:lpstr>
      <vt:lpstr>Android  Positioning  Architecture</vt:lpstr>
      <vt:lpstr>Agenda</vt:lpstr>
      <vt:lpstr>The Location Challenge</vt:lpstr>
      <vt:lpstr>Assisted GPS</vt:lpstr>
      <vt:lpstr>Complete System Overview</vt:lpstr>
      <vt:lpstr>PowerPoint Presentation</vt:lpstr>
      <vt:lpstr> </vt:lpstr>
      <vt:lpstr>Position Calculation Methods</vt:lpstr>
      <vt:lpstr>PowerPoint Presentation</vt:lpstr>
      <vt:lpstr>SUPL 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Arkajyoti Bhattacharyay</dc:creator>
  <cp:lastModifiedBy>Arkajyoti Bhattacharyay</cp:lastModifiedBy>
  <cp:revision>13</cp:revision>
  <dcterms:created xsi:type="dcterms:W3CDTF">2026-01-05T19:21:53Z</dcterms:created>
  <dcterms:modified xsi:type="dcterms:W3CDTF">2026-01-05T21:35:37Z</dcterms:modified>
</cp:coreProperties>
</file>