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notesMasterIdLst>
    <p:notesMasterId r:id="rId28"/>
  </p:notesMasterIdLst>
  <p:sldIdLst>
    <p:sldId id="258" r:id="rId2"/>
    <p:sldId id="269" r:id="rId3"/>
    <p:sldId id="263" r:id="rId4"/>
    <p:sldId id="288" r:id="rId5"/>
    <p:sldId id="265" r:id="rId6"/>
    <p:sldId id="267" r:id="rId7"/>
    <p:sldId id="285" r:id="rId8"/>
    <p:sldId id="276" r:id="rId9"/>
    <p:sldId id="260" r:id="rId10"/>
    <p:sldId id="275" r:id="rId11"/>
    <p:sldId id="284" r:id="rId12"/>
    <p:sldId id="282" r:id="rId13"/>
    <p:sldId id="281" r:id="rId14"/>
    <p:sldId id="277" r:id="rId15"/>
    <p:sldId id="286" r:id="rId16"/>
    <p:sldId id="278" r:id="rId17"/>
    <p:sldId id="279" r:id="rId18"/>
    <p:sldId id="274" r:id="rId19"/>
    <p:sldId id="268" r:id="rId20"/>
    <p:sldId id="280" r:id="rId21"/>
    <p:sldId id="270" r:id="rId22"/>
    <p:sldId id="272" r:id="rId23"/>
    <p:sldId id="271" r:id="rId24"/>
    <p:sldId id="273" r:id="rId25"/>
    <p:sldId id="283" r:id="rId26"/>
    <p:sldId id="28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09BF4-E594-4597-B635-1AD50F9465BC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EA388-F6E2-4DBB-84BA-AB4C097D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10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A388-F6E2-4DBB-84BA-AB4C097D3E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66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A388-F6E2-4DBB-84BA-AB4C097D3E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67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8B17E-44B5-9106-E80F-454C2ACA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8BE07-2293-0D94-FE4A-C05CDF1A2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A99A4-C95F-C813-B63E-64DB92EF8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9AECC-A1EF-5B00-EF35-053DF5CA8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A388-F6E2-4DBB-84BA-AB4C097D3E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83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3D7C-113D-F1C9-F8A8-F2A4E0183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31CE5-E391-8962-4186-9128CB653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580E0-5CC5-E7F3-A62E-53700285E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3C3B8-EC3A-C659-568A-02519FAEA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A388-F6E2-4DBB-84BA-AB4C097D3E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7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851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45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79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93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77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42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48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470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873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017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250641D-E428-4AA0-BD0E-1401802377E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AAEA8EC-6AE1-4EE5-9E8C-3531E11A8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39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supl.google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D5F9-995F-442A-9411-D684AE2BC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528905"/>
            <a:ext cx="8991600" cy="1645920"/>
          </a:xfrm>
        </p:spPr>
        <p:txBody>
          <a:bodyPr>
            <a:normAutofit/>
          </a:bodyPr>
          <a:lstStyle/>
          <a:p>
            <a:r>
              <a:rPr lang="en-IN" sz="2400" b="1" dirty="0"/>
              <a:t>Android  Positioning  Architecture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C381C-1BFD-4A5B-BF22-FE0B4D103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3777509"/>
            <a:ext cx="6801612" cy="1239894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How Your Phone Determines Your Position</a:t>
            </a:r>
          </a:p>
          <a:p>
            <a:r>
              <a:rPr lang="en-GB" b="1" dirty="0"/>
              <a:t>Based On</a:t>
            </a:r>
          </a:p>
          <a:p>
            <a:r>
              <a:rPr lang="en-IN" b="1" dirty="0"/>
              <a:t>Android, Qualcomm &amp; SUPL Location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005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F3FD-51E8-4ABB-8E17-96732F882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543297"/>
            <a:ext cx="4486656" cy="1141497"/>
          </a:xfrm>
        </p:spPr>
        <p:txBody>
          <a:bodyPr/>
          <a:lstStyle/>
          <a:p>
            <a:r>
              <a:rPr lang="en-IN" b="1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DA90C-34B2-4445-BA11-32FB92808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 - The Location Challenge</a:t>
            </a:r>
          </a:p>
          <a:p>
            <a:r>
              <a:rPr lang="en-IN" dirty="0"/>
              <a:t>System Architecture Overview</a:t>
            </a:r>
          </a:p>
          <a:p>
            <a:r>
              <a:rPr lang="en-IN" dirty="0"/>
              <a:t>Android AOSP Stack</a:t>
            </a:r>
          </a:p>
          <a:p>
            <a:r>
              <a:rPr lang="en-IN" dirty="0"/>
              <a:t>Qualcomm Hardware Architecture</a:t>
            </a:r>
          </a:p>
          <a:p>
            <a:r>
              <a:rPr lang="en-IN" dirty="0"/>
              <a:t>SUPL Protocol Deep Dive</a:t>
            </a:r>
          </a:p>
          <a:p>
            <a:r>
              <a:rPr lang="en-IN" dirty="0"/>
              <a:t>Complete Location Request Flow</a:t>
            </a:r>
          </a:p>
          <a:p>
            <a:r>
              <a:rPr lang="en-IN" dirty="0"/>
              <a:t>Position Calculation &amp; Mathematics</a:t>
            </a:r>
          </a:p>
          <a:p>
            <a:r>
              <a:rPr lang="en-IN" dirty="0"/>
              <a:t>Performance &amp; Real-World Metrics</a:t>
            </a:r>
          </a:p>
          <a:p>
            <a:r>
              <a:rPr lang="en-IN" dirty="0"/>
              <a:t>Summary &amp; Key Takeaways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14FE1-D4AF-4A29-B918-DF4F66313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5568" y="2098190"/>
            <a:ext cx="3794760" cy="956095"/>
          </a:xfrm>
        </p:spPr>
        <p:txBody>
          <a:bodyPr/>
          <a:lstStyle/>
          <a:p>
            <a:r>
              <a:rPr lang="en-GB" b="1" dirty="0"/>
              <a:t>Complete Technical Deep Dive: How Position is Determined</a:t>
            </a:r>
          </a:p>
          <a:p>
            <a:endParaRPr lang="en-GB" b="1" dirty="0"/>
          </a:p>
          <a:p>
            <a:endParaRPr lang="en-GB" b="1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05806-CCF4-42C1-8766-FF43F201D7CD}"/>
              </a:ext>
            </a:extLst>
          </p:cNvPr>
          <p:cNvSpPr/>
          <p:nvPr/>
        </p:nvSpPr>
        <p:spPr>
          <a:xfrm>
            <a:off x="640080" y="3054285"/>
            <a:ext cx="51479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Topics Covered: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Android AOSP Location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Qualcomm</a:t>
            </a: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 Modem &amp; GNSS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SUPL (Secure User Plane Location)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Complete Flow: Application → Satellite → Position</a:t>
            </a:r>
            <a:endParaRPr lang="en-IN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37715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6561-7347-415E-8BBB-9CF4E3D9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Complete System Overview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F31F8-A2C5-02AE-AC1F-3A846AAA33C6}"/>
              </a:ext>
            </a:extLst>
          </p:cNvPr>
          <p:cNvSpPr txBox="1"/>
          <p:nvPr/>
        </p:nvSpPr>
        <p:spPr>
          <a:xfrm>
            <a:off x="905455" y="1536356"/>
            <a:ext cx="107868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Android AOSP Stack</a:t>
            </a:r>
          </a:p>
          <a:p>
            <a:pPr algn="ctr"/>
            <a:r>
              <a:rPr lang="en-US" dirty="0"/>
              <a:t>(Application → Framework → HAL)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↕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FFC000"/>
                </a:solidFill>
              </a:rPr>
              <a:t>Qualcomm Hardware &amp; Firmware</a:t>
            </a:r>
          </a:p>
          <a:p>
            <a:pPr algn="ctr"/>
            <a:r>
              <a:rPr lang="en-US" dirty="0"/>
              <a:t>(SoC → Modem → Hexagon DSP → GNSS)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↕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FFC000"/>
                </a:solidFill>
              </a:rPr>
              <a:t>SUPL Network</a:t>
            </a:r>
          </a:p>
          <a:p>
            <a:pPr algn="ctr"/>
            <a:r>
              <a:rPr lang="en-US" dirty="0"/>
              <a:t>(Assistance Data Servers)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+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GPS/GLONASS/Galileo/BeiDou satellites orbiting at 20,000 km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93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D941-CB35-8824-52A0-403A9D22C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3101-C088-7866-96D8-04117EA2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Autofit/>
          </a:bodyPr>
          <a:lstStyle/>
          <a:p>
            <a:r>
              <a:rPr lang="en-US" sz="1800" dirty="0"/>
              <a:t>Complete Android-Qualcomm-SUPL Location Flow</a:t>
            </a:r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60C6B-542B-E10B-2225-0742436CCD4F}"/>
              </a:ext>
            </a:extLst>
          </p:cNvPr>
          <p:cNvSpPr txBox="1"/>
          <p:nvPr/>
        </p:nvSpPr>
        <p:spPr>
          <a:xfrm>
            <a:off x="0" y="1266533"/>
            <a:ext cx="118122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C000"/>
                </a:solidFill>
              </a:rPr>
              <a:t>1.  APPLICATION LAYER: </a:t>
            </a:r>
          </a:p>
          <a:p>
            <a:pPr lvl="1"/>
            <a:r>
              <a:rPr lang="en-IN" dirty="0"/>
              <a:t>└ User opens Maps → </a:t>
            </a:r>
            <a:r>
              <a:rPr lang="en-IN" dirty="0" err="1"/>
              <a:t>LocationManager.requestLocationUpdates</a:t>
            </a:r>
            <a:r>
              <a:rPr lang="en-IN" dirty="0"/>
              <a:t>()</a:t>
            </a:r>
          </a:p>
          <a:p>
            <a:r>
              <a:rPr lang="en-IN" dirty="0">
                <a:solidFill>
                  <a:srgbClr val="FFC000"/>
                </a:solidFill>
              </a:rPr>
              <a:t>2.  ANDROID FRAMEWORK: </a:t>
            </a:r>
          </a:p>
          <a:p>
            <a:r>
              <a:rPr lang="en-IN" dirty="0"/>
              <a:t>	 └ </a:t>
            </a:r>
            <a:r>
              <a:rPr lang="en-IN" dirty="0" err="1"/>
              <a:t>LocationManagerService</a:t>
            </a:r>
            <a:r>
              <a:rPr lang="en-IN" dirty="0"/>
              <a:t> → </a:t>
            </a:r>
            <a:r>
              <a:rPr lang="en-IN" dirty="0" err="1"/>
              <a:t>GnssLocationProvider.enable</a:t>
            </a:r>
            <a:r>
              <a:rPr lang="en-IN" dirty="0"/>
              <a:t>()</a:t>
            </a:r>
          </a:p>
          <a:p>
            <a:r>
              <a:rPr lang="en-IN" dirty="0">
                <a:solidFill>
                  <a:srgbClr val="FFC000"/>
                </a:solidFill>
              </a:rPr>
              <a:t>3. HAL INTERFACE: </a:t>
            </a:r>
          </a:p>
          <a:p>
            <a:r>
              <a:rPr lang="en-IN" dirty="0">
                <a:solidFill>
                  <a:srgbClr val="FFC000"/>
                </a:solidFill>
              </a:rPr>
              <a:t>	</a:t>
            </a:r>
            <a:r>
              <a:rPr lang="en-IN" dirty="0"/>
              <a:t> └ </a:t>
            </a:r>
            <a:r>
              <a:rPr lang="en-IN" dirty="0" err="1"/>
              <a:t>IGnss.start</a:t>
            </a:r>
            <a:r>
              <a:rPr lang="en-IN" dirty="0"/>
              <a:t>() → Vendor HAL implementation</a:t>
            </a:r>
          </a:p>
          <a:p>
            <a:r>
              <a:rPr lang="en-IN" dirty="0">
                <a:solidFill>
                  <a:srgbClr val="FFC000"/>
                </a:solidFill>
              </a:rPr>
              <a:t>4. QUALCOMM VENDOR: </a:t>
            </a:r>
          </a:p>
          <a:p>
            <a:r>
              <a:rPr lang="en-IN" dirty="0"/>
              <a:t>	 └ Location API → GNSS Daemon → Location Engine</a:t>
            </a:r>
          </a:p>
          <a:p>
            <a:r>
              <a:rPr lang="en-IN" dirty="0">
                <a:solidFill>
                  <a:srgbClr val="FFC000"/>
                </a:solidFill>
              </a:rPr>
              <a:t>5. SUPL ASSISTANCE </a:t>
            </a:r>
            <a:r>
              <a:rPr lang="en-IN" dirty="0">
                <a:solidFill>
                  <a:srgbClr val="92D050"/>
                </a:solidFill>
              </a:rPr>
              <a:t>(Parallel)</a:t>
            </a:r>
            <a:r>
              <a:rPr lang="en-IN" dirty="0">
                <a:solidFill>
                  <a:srgbClr val="FFC000"/>
                </a:solidFill>
              </a:rPr>
              <a:t>: </a:t>
            </a:r>
            <a:r>
              <a:rPr lang="en-IN" dirty="0"/>
              <a:t>SUPL Client → SUPL Server → Assistance Data</a:t>
            </a:r>
          </a:p>
          <a:p>
            <a:r>
              <a:rPr lang="en-IN" dirty="0"/>
              <a:t>      └ Satellite ephemeris, Reference time &amp; location, Ionospheric corrections,  Acquisition assistance (Doppler, code phase)</a:t>
            </a:r>
          </a:p>
          <a:p>
            <a:r>
              <a:rPr lang="en-IN" dirty="0">
                <a:solidFill>
                  <a:srgbClr val="FFC000"/>
                </a:solidFill>
              </a:rPr>
              <a:t>6. GNSS HARDWARE: </a:t>
            </a:r>
            <a:r>
              <a:rPr lang="en-IN" dirty="0"/>
              <a:t>RF Frontend → Acquisition → Tracking → Measurements</a:t>
            </a:r>
          </a:p>
          <a:p>
            <a:r>
              <a:rPr lang="en-IN" dirty="0"/>
              <a:t>      └ Uses assistance data to acquire fast (5-10s vs 30-60s), Tracks 8+ satellites (GPS, GLONASS, Galileo, BeiDou)</a:t>
            </a:r>
          </a:p>
          <a:p>
            <a:r>
              <a:rPr lang="en-IN" dirty="0">
                <a:solidFill>
                  <a:srgbClr val="FFC000"/>
                </a:solidFill>
              </a:rPr>
              <a:t>7. POSITION CALCULATION: </a:t>
            </a:r>
            <a:r>
              <a:rPr lang="en-IN" dirty="0"/>
              <a:t>Measurement Engine → Position Engine</a:t>
            </a:r>
          </a:p>
          <a:p>
            <a:r>
              <a:rPr lang="en-IN" dirty="0"/>
              <a:t>      ├ Apply corrections (ionosphere, troposphere, clock), Least squares trilateration, Kalman filter smoothing</a:t>
            </a:r>
          </a:p>
          <a:p>
            <a:r>
              <a:rPr lang="en-IN" dirty="0"/>
              <a:t>      └ Output: Lat/Lon/Alt ±4m accuracy</a:t>
            </a:r>
          </a:p>
          <a:p>
            <a:r>
              <a:rPr lang="en-IN" dirty="0">
                <a:solidFill>
                  <a:srgbClr val="FFC000"/>
                </a:solidFill>
              </a:rPr>
              <a:t>8. CALLBACK CHAIN:</a:t>
            </a:r>
          </a:p>
          <a:p>
            <a:r>
              <a:rPr lang="en-IN" dirty="0"/>
              <a:t>   └ GNSS Engine → HAL → Framework → Application</a:t>
            </a:r>
          </a:p>
          <a:p>
            <a:r>
              <a:rPr lang="en-IN" dirty="0">
                <a:solidFill>
                  <a:srgbClr val="FFC000"/>
                </a:solidFill>
              </a:rPr>
              <a:t>9. USER SEES LOCATION: </a:t>
            </a:r>
            <a:r>
              <a:rPr lang="en-IN" dirty="0"/>
              <a:t>Blue dot on map, navigation route displayed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Total Time: </a:t>
            </a:r>
            <a:r>
              <a:rPr lang="en-IN" dirty="0">
                <a:solidFill>
                  <a:srgbClr val="FFC000"/>
                </a:solidFill>
              </a:rPr>
              <a:t>5-10 seconds (first fix), 1-3 seconds (subsequent)</a:t>
            </a:r>
          </a:p>
        </p:txBody>
      </p:sp>
    </p:spTree>
    <p:extLst>
      <p:ext uri="{BB962C8B-B14F-4D97-AF65-F5344CB8AC3E}">
        <p14:creationId xmlns:p14="http://schemas.microsoft.com/office/powerpoint/2010/main" val="89970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6561-7347-415E-8BBB-9CF4E3D9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Autofit/>
          </a:bodyPr>
          <a:lstStyle/>
          <a:p>
            <a:r>
              <a:rPr lang="en-US" sz="2000" dirty="0"/>
              <a:t>Android AOSP Stack For Location Services</a:t>
            </a:r>
            <a:r>
              <a:rPr lang="en-GB" sz="2000" dirty="0"/>
              <a:t> </a:t>
            </a: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6D3867-5ED9-4163-A9E5-CE9082F9A0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48" b="7437"/>
          <a:stretch>
            <a:fillRect/>
          </a:stretch>
        </p:blipFill>
        <p:spPr>
          <a:xfrm>
            <a:off x="176882" y="1200003"/>
            <a:ext cx="11838236" cy="527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3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6561-7347-415E-8BBB-9CF4E3D9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US" dirty="0"/>
              <a:t>Qualcomm Hardware Architecture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0DA89F-3382-EAC0-D745-5E01F2AD4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12" y="1508288"/>
            <a:ext cx="11104775" cy="48224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1. Application Processor (</a:t>
            </a:r>
            <a:r>
              <a:rPr lang="en-GB" b="1" dirty="0" err="1"/>
              <a:t>Kryo</a:t>
            </a:r>
            <a:r>
              <a:rPr lang="en-GB" b="1" dirty="0"/>
              <a:t> CPU)</a:t>
            </a:r>
          </a:p>
          <a:p>
            <a:pPr lvl="1"/>
            <a:r>
              <a:rPr lang="en-GB" dirty="0"/>
              <a:t>Runs Android OS</a:t>
            </a:r>
          </a:p>
          <a:p>
            <a:pPr lvl="1"/>
            <a:r>
              <a:rPr lang="en-GB" dirty="0"/>
              <a:t>ARM Cortex-based cores</a:t>
            </a:r>
          </a:p>
          <a:p>
            <a:pPr lvl="1"/>
            <a:r>
              <a:rPr lang="en-GB" dirty="0"/>
              <a:t>Handles apps and framework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2. Modem Subsystem</a:t>
            </a:r>
          </a:p>
          <a:p>
            <a:pPr lvl="1"/>
            <a:r>
              <a:rPr lang="en-GB" dirty="0"/>
              <a:t>Separate processor complex</a:t>
            </a:r>
          </a:p>
          <a:p>
            <a:pPr lvl="1"/>
            <a:r>
              <a:rPr lang="en-GB" dirty="0"/>
              <a:t>Handles cellular (4G/5G) communications</a:t>
            </a:r>
          </a:p>
          <a:p>
            <a:pPr lvl="1"/>
            <a:r>
              <a:rPr lang="en-GB" dirty="0"/>
              <a:t>Has its own CPU, memory, and OS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3. Hexagon DSP</a:t>
            </a:r>
          </a:p>
          <a:p>
            <a:pPr lvl="1"/>
            <a:r>
              <a:rPr lang="en-GB" dirty="0"/>
              <a:t>Digital Signal Processor</a:t>
            </a:r>
          </a:p>
          <a:p>
            <a:pPr lvl="1"/>
            <a:r>
              <a:rPr lang="en-GB" dirty="0"/>
              <a:t>Low-power, specialized processor</a:t>
            </a:r>
          </a:p>
          <a:p>
            <a:pPr lvl="1"/>
            <a:r>
              <a:rPr lang="en-GB" dirty="0"/>
              <a:t>Runs GNSS engine firmware</a:t>
            </a:r>
          </a:p>
        </p:txBody>
      </p:sp>
    </p:spTree>
    <p:extLst>
      <p:ext uri="{BB962C8B-B14F-4D97-AF65-F5344CB8AC3E}">
        <p14:creationId xmlns:p14="http://schemas.microsoft.com/office/powerpoint/2010/main" val="159398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C661A-E073-A08B-09B6-C42198A4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90E9-0F66-0450-733D-79D6CDABA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US" dirty="0"/>
              <a:t>GNSS Engine Architecture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31A9D9B-F266-0444-22F9-342B93C18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12" y="1289154"/>
            <a:ext cx="11104775" cy="463629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1400" dirty="0">
                <a:solidFill>
                  <a:srgbClr val="FFC000"/>
                </a:solidFill>
              </a:rPr>
              <a:t>RF Frontend </a:t>
            </a:r>
          </a:p>
          <a:p>
            <a:pPr marL="0" indent="0" algn="ctr">
              <a:buNone/>
            </a:pPr>
            <a:r>
              <a:rPr lang="en-GB" sz="1200" dirty="0"/>
              <a:t>Antenna and Low Noise Amplifier (LNA) + RF to baseband conversion + L1/L5 frequency reception (1.5 GHz)</a:t>
            </a:r>
          </a:p>
          <a:p>
            <a:pPr marL="0" indent="0" algn="ctr">
              <a:buNone/>
            </a:pPr>
            <a:r>
              <a:rPr lang="en-GB" sz="1200" dirty="0"/>
              <a:t>↓</a:t>
            </a:r>
          </a:p>
          <a:p>
            <a:pPr marL="0" indent="0" algn="ctr">
              <a:buNone/>
            </a:pPr>
            <a:r>
              <a:rPr lang="en-GB" sz="1400" dirty="0">
                <a:solidFill>
                  <a:srgbClr val="FFC000"/>
                </a:solidFill>
              </a:rPr>
              <a:t>Acquisition Engine</a:t>
            </a:r>
          </a:p>
          <a:p>
            <a:pPr marL="0" indent="0" algn="ctr">
              <a:buNone/>
            </a:pPr>
            <a:r>
              <a:rPr lang="en-GB" sz="1200" dirty="0"/>
              <a:t>Searches for satellite signals + Parallel correlators + Doppler frequency search</a:t>
            </a:r>
          </a:p>
          <a:p>
            <a:pPr marL="0" indent="0" algn="ctr">
              <a:buNone/>
            </a:pPr>
            <a:r>
              <a:rPr lang="en-GB" sz="1200" dirty="0"/>
              <a:t>↓</a:t>
            </a:r>
          </a:p>
          <a:p>
            <a:pPr marL="0" indent="0" algn="ctr">
              <a:buNone/>
            </a:pPr>
            <a:r>
              <a:rPr lang="en-GB" sz="1400" dirty="0">
                <a:solidFill>
                  <a:srgbClr val="FFC000"/>
                </a:solidFill>
              </a:rPr>
              <a:t>Tracking Channels (12-32 channels)</a:t>
            </a:r>
          </a:p>
          <a:p>
            <a:pPr marL="0" indent="0" algn="ctr">
              <a:buNone/>
            </a:pPr>
            <a:r>
              <a:rPr lang="en-GB" sz="1200" dirty="0"/>
              <a:t>Code tracking loop (DLL) + Carrier tracking loop (PLL) + One channel per satellite</a:t>
            </a:r>
          </a:p>
          <a:p>
            <a:pPr marL="0" indent="0" algn="ctr">
              <a:buNone/>
            </a:pPr>
            <a:r>
              <a:rPr lang="en-GB" sz="1200" dirty="0"/>
              <a:t>↓</a:t>
            </a:r>
          </a:p>
          <a:p>
            <a:pPr marL="0" indent="0" algn="ctr">
              <a:buNone/>
            </a:pPr>
            <a:r>
              <a:rPr lang="en-GB" sz="1400" dirty="0">
                <a:solidFill>
                  <a:srgbClr val="FFC000"/>
                </a:solidFill>
              </a:rPr>
              <a:t>Measurement Engine</a:t>
            </a:r>
          </a:p>
          <a:p>
            <a:pPr marL="0" indent="0" algn="ctr">
              <a:buNone/>
            </a:pPr>
            <a:r>
              <a:rPr lang="en-GB" sz="1200" dirty="0"/>
              <a:t>Generates </a:t>
            </a:r>
            <a:r>
              <a:rPr lang="en-GB" sz="1200" dirty="0" err="1"/>
              <a:t>pseudorange</a:t>
            </a:r>
            <a:r>
              <a:rPr lang="en-GB" sz="1200" dirty="0"/>
              <a:t> measurements + Doppler shift measurements + Carrier phase measurements + Signal strength (C/N0)</a:t>
            </a:r>
          </a:p>
          <a:p>
            <a:pPr marL="0" indent="0" algn="ctr">
              <a:buNone/>
            </a:pPr>
            <a:r>
              <a:rPr lang="en-GB" sz="1200" dirty="0"/>
              <a:t>↓</a:t>
            </a:r>
          </a:p>
          <a:p>
            <a:pPr marL="0" indent="0" algn="ctr">
              <a:buNone/>
            </a:pPr>
            <a:r>
              <a:rPr lang="en-GB" sz="1400" dirty="0">
                <a:solidFill>
                  <a:srgbClr val="FFC000"/>
                </a:solidFill>
              </a:rPr>
              <a:t>Position Engine</a:t>
            </a:r>
          </a:p>
          <a:p>
            <a:pPr marL="0" indent="0" algn="ctr">
              <a:buNone/>
            </a:pPr>
            <a:r>
              <a:rPr lang="en-GB" sz="1200" dirty="0"/>
              <a:t>Trilateration algorithm + Least squares solution + Kalman filtering + ECEF → Lat/Lon/Alt conversion</a:t>
            </a:r>
          </a:p>
          <a:p>
            <a:pPr marL="0" indent="0" algn="ctr">
              <a:buNone/>
            </a:pPr>
            <a:r>
              <a:rPr lang="en-GB" sz="1200" dirty="0"/>
              <a:t>↓</a:t>
            </a:r>
          </a:p>
          <a:p>
            <a:pPr marL="0" indent="0" algn="ctr">
              <a:buNone/>
            </a:pPr>
            <a:r>
              <a:rPr lang="en-GB" sz="1400" dirty="0">
                <a:solidFill>
                  <a:srgbClr val="FFC000"/>
                </a:solidFill>
              </a:rPr>
              <a:t>SUPL Client</a:t>
            </a:r>
          </a:p>
          <a:p>
            <a:pPr marL="0" indent="0" algn="ctr">
              <a:buNone/>
            </a:pPr>
            <a:r>
              <a:rPr lang="en-GB" sz="1200" dirty="0"/>
              <a:t>Downloads assistance data + Manages SUPL sessions</a:t>
            </a:r>
          </a:p>
        </p:txBody>
      </p:sp>
    </p:spTree>
    <p:extLst>
      <p:ext uri="{BB962C8B-B14F-4D97-AF65-F5344CB8AC3E}">
        <p14:creationId xmlns:p14="http://schemas.microsoft.com/office/powerpoint/2010/main" val="2890040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EE529-6F27-BD42-D5A3-B9E86912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B54F-04CE-2173-54E1-9A1154DD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28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6561-7347-415E-8BBB-9CF4E3D9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The Location Challenge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5BC44-99F5-49E8-8A51-61FFBA207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12" y="1508288"/>
            <a:ext cx="11104775" cy="4822469"/>
          </a:xfrm>
        </p:spPr>
        <p:txBody>
          <a:bodyPr/>
          <a:lstStyle/>
          <a:p>
            <a:r>
              <a:rPr lang="en-GB" b="1" dirty="0"/>
              <a:t>Why is GPS Positioning Hard?</a:t>
            </a:r>
          </a:p>
          <a:p>
            <a:pPr marL="228600" lvl="1" indent="0">
              <a:buNone/>
            </a:pPr>
            <a:r>
              <a:rPr lang="en-GB" b="1" dirty="0"/>
              <a:t>Traditional GPS Problems:</a:t>
            </a:r>
            <a:endParaRPr lang="en-GB" dirty="0"/>
          </a:p>
          <a:p>
            <a:pPr lvl="3"/>
            <a:r>
              <a:rPr lang="en-GB" b="1" dirty="0"/>
              <a:t>Slow Time To First Fix (TTFF):</a:t>
            </a:r>
            <a:r>
              <a:rPr lang="en-GB" dirty="0"/>
              <a:t> 30-60+ seconds cold start</a:t>
            </a:r>
          </a:p>
          <a:p>
            <a:pPr lvl="3"/>
            <a:r>
              <a:rPr lang="en-GB" b="1" dirty="0"/>
              <a:t>Weak Signals:</a:t>
            </a:r>
            <a:r>
              <a:rPr lang="en-GB" dirty="0"/>
              <a:t> -160 dBm (weaker than a 25W bulb on the Moon)</a:t>
            </a:r>
          </a:p>
          <a:p>
            <a:pPr lvl="3"/>
            <a:r>
              <a:rPr lang="en-GB" b="1" dirty="0"/>
              <a:t>Data Download:</a:t>
            </a:r>
            <a:r>
              <a:rPr lang="en-GB" dirty="0"/>
              <a:t> 12.5-30 minutes for almanac/ephemeris from satellites</a:t>
            </a:r>
          </a:p>
          <a:p>
            <a:pPr lvl="3"/>
            <a:r>
              <a:rPr lang="en-GB" b="1" dirty="0"/>
              <a:t>High Power Consumption:</a:t>
            </a:r>
            <a:r>
              <a:rPr lang="en-GB" dirty="0"/>
              <a:t> Extended satellite search drains battery</a:t>
            </a:r>
          </a:p>
          <a:p>
            <a:pPr lvl="3"/>
            <a:r>
              <a:rPr lang="en-GB" b="1" dirty="0"/>
              <a:t>Poor Indoor Performance:</a:t>
            </a:r>
            <a:r>
              <a:rPr lang="en-GB" dirty="0"/>
              <a:t> Signals blocked by buildings</a:t>
            </a:r>
          </a:p>
          <a:p>
            <a:pPr marL="228600" lvl="1" indent="0">
              <a:buNone/>
            </a:pPr>
            <a:r>
              <a:rPr lang="en-GB" b="1" dirty="0"/>
              <a:t>Result:</a:t>
            </a:r>
            <a:r>
              <a:rPr lang="en-GB" dirty="0"/>
              <a:t> Bad user experience without assistance!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The Solution:  A-GPS with SUPL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724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6561-7347-415E-8BBB-9CF4E3D9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US" dirty="0"/>
              <a:t>The Challenge of GPS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5BC44-99F5-49E8-8A51-61FFBA207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1508288"/>
            <a:ext cx="11887199" cy="48224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While the process of GPS positioning sounds straightforward, standalone GPS (operating without any assistance) faces several significant challenges: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C000"/>
                </a:solidFill>
              </a:rPr>
              <a:t>1. Slow Time To First Fix (TTFF): </a:t>
            </a:r>
            <a:r>
              <a:rPr lang="en-US" sz="1600" dirty="0"/>
              <a:t>It needs to download data from the satellites themselves in time of "Cold Start". This includes:</a:t>
            </a:r>
          </a:p>
          <a:p>
            <a:pPr lvl="1"/>
            <a:r>
              <a:rPr lang="en-US" dirty="0"/>
              <a:t>Almanac Data: Approximate orbital information for all GPS satellites in the constellation.</a:t>
            </a:r>
          </a:p>
          <a:p>
            <a:pPr lvl="1"/>
            <a:r>
              <a:rPr lang="en-US" dirty="0"/>
              <a:t>Ephemeris Data: Precise orbital parameters for each satellite, valid for about 4 hours. Receiver needs ephemeris for at least 4 satellites to get a position fix.</a:t>
            </a:r>
          </a:p>
          <a:p>
            <a:pPr lvl="1"/>
            <a:r>
              <a:rPr lang="en-US" dirty="0"/>
              <a:t>Time Information: Receivers need to know the current GPS time to within a few seconds to begin the search for satellites efficiently.</a:t>
            </a:r>
          </a:p>
          <a:p>
            <a:pPr marL="0" indent="0">
              <a:buNone/>
            </a:pPr>
            <a:r>
              <a:rPr lang="en-US" sz="1600" dirty="0"/>
              <a:t>	Without this information, your phone must search through all possible satellite signals (32 satellites × many possible frequencies × many possible code phases), which can take 30 to 60 seconds or more just to get the first position fix.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C000"/>
                </a:solidFill>
              </a:rPr>
              <a:t>2. Weak Signal Environments: </a:t>
            </a:r>
            <a:r>
              <a:rPr lang="en-US" sz="1600" dirty="0"/>
              <a:t>GPS signals are remarkably weak by the time they reach Earth's surface. This presents several problems like p</a:t>
            </a:r>
            <a:r>
              <a:rPr lang="en-US" dirty="0"/>
              <a:t>oor indoor reception and inaccurate position calculation in Urban Canyons (In dense cities, GPS signals may be blocked or reflected off buildings (called multipath))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3. High Power Consumption: </a:t>
            </a:r>
            <a:r>
              <a:rPr lang="en-US" dirty="0"/>
              <a:t>Searching for satellites and downloading data requires keeping the GPS receiver powered on for extended periods. 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4. Limited Accuracy: </a:t>
            </a:r>
            <a:r>
              <a:rPr lang="en-US" dirty="0"/>
              <a:t>Even under ideal conditions (clear sky, open area), standalone GPS typically achieves accuracy of 10-30 meters at a 95% confidence level. </a:t>
            </a:r>
          </a:p>
        </p:txBody>
      </p:sp>
    </p:spTree>
    <p:extLst>
      <p:ext uri="{BB962C8B-B14F-4D97-AF65-F5344CB8AC3E}">
        <p14:creationId xmlns:p14="http://schemas.microsoft.com/office/powerpoint/2010/main" val="3469762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E90F4-74BA-F2BF-6986-87548566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4ED8-F049-F005-435B-23D4839D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US" dirty="0"/>
              <a:t>The Solution: A-GPS with SUPL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46F28-84AC-FDEA-391D-0630EB0F9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541" y="1963712"/>
            <a:ext cx="10792917" cy="4082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Assisted GPS (A-GPS)</a:t>
            </a:r>
          </a:p>
          <a:p>
            <a:pPr marL="0" indent="0">
              <a:buNone/>
            </a:pPr>
            <a:r>
              <a:rPr lang="en-US" b="1" dirty="0"/>
              <a:t>Key Concept:</a:t>
            </a:r>
            <a:r>
              <a:rPr lang="en-US" dirty="0"/>
              <a:t> Download assistance data over fast internet instead of slow satellite signals</a:t>
            </a:r>
          </a:p>
          <a:p>
            <a:r>
              <a:rPr lang="en-US" b="1" dirty="0"/>
              <a:t>Speed Comparison:</a:t>
            </a:r>
            <a:endParaRPr lang="en-US" dirty="0"/>
          </a:p>
          <a:p>
            <a:pPr lvl="1"/>
            <a:r>
              <a:rPr lang="en-US" sz="1800" dirty="0"/>
              <a:t>Satellite broadcast: 50 bits/second</a:t>
            </a:r>
          </a:p>
          <a:p>
            <a:pPr lvl="1"/>
            <a:r>
              <a:rPr lang="en-US" sz="1800" dirty="0"/>
              <a:t>4G/5G internet: 20+ Mbps (400,000× faster!)</a:t>
            </a:r>
          </a:p>
          <a:p>
            <a:r>
              <a:rPr lang="en-US" b="1" dirty="0"/>
              <a:t>Result:</a:t>
            </a:r>
            <a:endParaRPr lang="en-US" dirty="0"/>
          </a:p>
          <a:p>
            <a:pPr lvl="1"/>
            <a:r>
              <a:rPr lang="en-US" sz="1800" dirty="0"/>
              <a:t>TTFF: 5-10 seconds (vs 30-60 seconds)</a:t>
            </a:r>
          </a:p>
          <a:p>
            <a:pPr lvl="1"/>
            <a:r>
              <a:rPr lang="en-US" sz="1800" dirty="0"/>
              <a:t>90% less power consumption</a:t>
            </a:r>
          </a:p>
          <a:p>
            <a:pPr lvl="1"/>
            <a:r>
              <a:rPr lang="en-US" sz="1800" dirty="0"/>
              <a:t>Works in weak signal environments</a:t>
            </a:r>
          </a:p>
        </p:txBody>
      </p:sp>
    </p:spTree>
    <p:extLst>
      <p:ext uri="{BB962C8B-B14F-4D97-AF65-F5344CB8AC3E}">
        <p14:creationId xmlns:p14="http://schemas.microsoft.com/office/powerpoint/2010/main" val="1541062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2CAB5-BB55-1627-10AC-9A918F1F1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BBD2-AD46-79C8-8B41-19DCA77E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US" dirty="0"/>
              <a:t>Enter SUPL: 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98395-46A7-F3DA-A1C3-200207E75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1508288"/>
            <a:ext cx="11887199" cy="48224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The fundamental insight behind SUPL is to send the assistance data quickly over the internet instead of making your phone slowly download that data from satellites: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C000"/>
                </a:solidFill>
              </a:rPr>
              <a:t>Satellite Ephemeris Data:</a:t>
            </a:r>
            <a:r>
              <a:rPr lang="en-US" dirty="0"/>
              <a:t> Instead of waiting 30 seconds per satellite to download ephemeris from the satellites themselves, SUPL can send precise ephemeris data for all visible satellites in just 1-2 seconds over a 4G or 5G internet connection. This ephemeris data is collected from a global network of GPS reference stations that continuously monitor all satellites.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C000"/>
                </a:solidFill>
              </a:rPr>
              <a:t>Current GPS Time: </a:t>
            </a:r>
            <a:r>
              <a:rPr lang="en-US" dirty="0"/>
              <a:t>SUPL provides the precise GPS time synchronized to within nanoseconds, eliminating the need for your phone to search blindly through time offsets.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C000"/>
                </a:solidFill>
              </a:rPr>
              <a:t>Reference Location: </a:t>
            </a:r>
            <a:r>
              <a:rPr lang="en-US" dirty="0"/>
              <a:t>SUPL can provide an approximate location based on your cellular connection (which cell tower you're connected to). This might only be accurate to 1-2 kilometers, but it's sufficient to tell your phone which satellites should be visible in the sky.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C000"/>
                </a:solidFill>
              </a:rPr>
              <a:t>Acquisition Assistance: </a:t>
            </a:r>
            <a:r>
              <a:rPr lang="en-US" dirty="0"/>
              <a:t>Perhaps most importantly, SUPL provides exact search parameters for each satellite, including The expected Doppler frequency shift, The expected code phase, The expected signal strength and satellite elevation angle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C000"/>
                </a:solidFill>
              </a:rPr>
              <a:t>Ionospheric Correction Model: </a:t>
            </a:r>
            <a:r>
              <a:rPr lang="en-US" dirty="0"/>
              <a:t>SUPL provides parameters for a mathematical model that can estimate the signal delay caused by the ionosphere, improving position accuracy by 5-15 meters.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10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98FC8-1609-4E13-E59B-97A73DFD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CEBF-84ED-C1AA-14F6-8D5E7409D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SUPL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8214F-7987-AE93-E397-27659A12A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12" y="1508288"/>
            <a:ext cx="11104775" cy="4822469"/>
          </a:xfrm>
        </p:spPr>
        <p:txBody>
          <a:bodyPr/>
          <a:lstStyle/>
          <a:p>
            <a:r>
              <a:rPr lang="en-IN" b="1" dirty="0"/>
              <a:t>Secure User Plane Location Protocol</a:t>
            </a:r>
            <a:endParaRPr lang="en-IN" dirty="0"/>
          </a:p>
          <a:p>
            <a:r>
              <a:rPr lang="en-IN" b="1" dirty="0"/>
              <a:t>What is SUPL?</a:t>
            </a:r>
            <a:endParaRPr lang="en-IN" dirty="0"/>
          </a:p>
          <a:p>
            <a:pPr lvl="1"/>
            <a:r>
              <a:rPr lang="en-IN" dirty="0"/>
              <a:t>OMA (Open Mobile Alliance) standard</a:t>
            </a:r>
          </a:p>
          <a:p>
            <a:pPr lvl="1"/>
            <a:r>
              <a:rPr lang="en-IN" dirty="0"/>
              <a:t>IP-based location protocol using User Plane</a:t>
            </a:r>
          </a:p>
          <a:p>
            <a:pPr lvl="1"/>
            <a:r>
              <a:rPr lang="en-IN" dirty="0"/>
              <a:t>Provides Assisted GNSS (A-GNSS) data</a:t>
            </a:r>
          </a:p>
          <a:p>
            <a:pPr lvl="1"/>
            <a:r>
              <a:rPr lang="en-IN" dirty="0"/>
              <a:t>Faster TTFF and improved accuracy</a:t>
            </a:r>
          </a:p>
          <a:p>
            <a:r>
              <a:rPr lang="en-IN" b="1" dirty="0"/>
              <a:t>Key Principle:</a:t>
            </a:r>
            <a:r>
              <a:rPr lang="en-IN" dirty="0"/>
              <a:t> Use existing IP connectivity (cellular data/</a:t>
            </a:r>
            <a:r>
              <a:rPr lang="en-IN" dirty="0" err="1"/>
              <a:t>WiFi</a:t>
            </a:r>
            <a:r>
              <a:rPr lang="en-IN" dirty="0"/>
              <a:t>) to deliver GPS assistance data instead of downloading it slowly from satellites.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354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935E9-2B8B-EC26-C66D-3CBACD9F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3AFF-C56B-3964-2729-473042D5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US" dirty="0"/>
              <a:t>SUPL Protocol Overview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E191E8-3E0B-75C8-EC89-BF732FB9A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12" y="1508288"/>
            <a:ext cx="11104775" cy="4822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Developed by: Open Mobile Alliance (OMA)</a:t>
            </a:r>
          </a:p>
          <a:p>
            <a:pPr lvl="1"/>
            <a:r>
              <a:rPr lang="en-IN" b="1" dirty="0"/>
              <a:t>SUPL 1.0 (2007)</a:t>
            </a:r>
          </a:p>
          <a:p>
            <a:pPr lvl="1"/>
            <a:r>
              <a:rPr lang="en-IN" b="1" dirty="0"/>
              <a:t>SUPL 2.0 (2012)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Key Innovation: </a:t>
            </a:r>
            <a:r>
              <a:rPr lang="en-IN" dirty="0"/>
              <a:t>Use IP network (user plane) instead of cellular control plane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Benefits:</a:t>
            </a:r>
          </a:p>
          <a:p>
            <a:pPr lvl="1"/>
            <a:r>
              <a:rPr lang="en-IN" b="1" dirty="0"/>
              <a:t>Network-independent (works over </a:t>
            </a:r>
            <a:r>
              <a:rPr lang="en-IN" b="1" dirty="0" err="1"/>
              <a:t>WiFi</a:t>
            </a:r>
            <a:r>
              <a:rPr lang="en-IN" b="1" dirty="0"/>
              <a:t>, 4G, 5G)</a:t>
            </a:r>
          </a:p>
          <a:p>
            <a:pPr lvl="1"/>
            <a:r>
              <a:rPr lang="en-IN" b="1" dirty="0"/>
              <a:t>Simpler deployment</a:t>
            </a:r>
          </a:p>
          <a:p>
            <a:pPr lvl="1"/>
            <a:r>
              <a:rPr lang="en-IN" b="1" dirty="0"/>
              <a:t>Lower infrastructure cost</a:t>
            </a:r>
          </a:p>
          <a:p>
            <a:pPr lvl="1"/>
            <a:r>
              <a:rPr lang="en-IN" b="1" dirty="0"/>
              <a:t>Better roaming support</a:t>
            </a:r>
          </a:p>
          <a:p>
            <a:pPr lvl="1"/>
            <a:r>
              <a:rPr lang="en-IN" b="1" dirty="0"/>
              <a:t>Single standard for all networks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57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6F79-AF05-7BBF-3939-1EDB76A8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D8D18-83F7-0DED-1616-0BEE13C6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Autofit/>
          </a:bodyPr>
          <a:lstStyle/>
          <a:p>
            <a:r>
              <a:rPr lang="en-US" sz="2000" dirty="0"/>
              <a:t>SUPL 2.0: Beyond GPS, Multi-Constellation GNSS</a:t>
            </a:r>
            <a:endParaRPr lang="en-IN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2BF5A9-7D7A-A673-B9A7-50AA76958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57019"/>
              </p:ext>
            </p:extLst>
          </p:nvPr>
        </p:nvGraphicFramePr>
        <p:xfrm>
          <a:off x="390773" y="1336260"/>
          <a:ext cx="11257614" cy="3338535"/>
        </p:xfrm>
        <a:graphic>
          <a:graphicData uri="http://schemas.openxmlformats.org/drawingml/2006/table">
            <a:tbl>
              <a:tblPr firstRow="1" firstCol="1">
                <a:tableStyleId>{5DA37D80-6434-44D0-A028-1B22A696006F}</a:tableStyleId>
              </a:tblPr>
              <a:tblGrid>
                <a:gridCol w="1876269">
                  <a:extLst>
                    <a:ext uri="{9D8B030D-6E8A-4147-A177-3AD203B41FA5}">
                      <a16:colId xmlns:a16="http://schemas.microsoft.com/office/drawing/2014/main" val="1885084226"/>
                    </a:ext>
                  </a:extLst>
                </a:gridCol>
                <a:gridCol w="1876269">
                  <a:extLst>
                    <a:ext uri="{9D8B030D-6E8A-4147-A177-3AD203B41FA5}">
                      <a16:colId xmlns:a16="http://schemas.microsoft.com/office/drawing/2014/main" val="1506208045"/>
                    </a:ext>
                  </a:extLst>
                </a:gridCol>
                <a:gridCol w="1876269">
                  <a:extLst>
                    <a:ext uri="{9D8B030D-6E8A-4147-A177-3AD203B41FA5}">
                      <a16:colId xmlns:a16="http://schemas.microsoft.com/office/drawing/2014/main" val="954853271"/>
                    </a:ext>
                  </a:extLst>
                </a:gridCol>
                <a:gridCol w="1876269">
                  <a:extLst>
                    <a:ext uri="{9D8B030D-6E8A-4147-A177-3AD203B41FA5}">
                      <a16:colId xmlns:a16="http://schemas.microsoft.com/office/drawing/2014/main" val="1768731814"/>
                    </a:ext>
                  </a:extLst>
                </a:gridCol>
                <a:gridCol w="1876269">
                  <a:extLst>
                    <a:ext uri="{9D8B030D-6E8A-4147-A177-3AD203B41FA5}">
                      <a16:colId xmlns:a16="http://schemas.microsoft.com/office/drawing/2014/main" val="1021446173"/>
                    </a:ext>
                  </a:extLst>
                </a:gridCol>
                <a:gridCol w="1876269">
                  <a:extLst>
                    <a:ext uri="{9D8B030D-6E8A-4147-A177-3AD203B41FA5}">
                      <a16:colId xmlns:a16="http://schemas.microsoft.com/office/drawing/2014/main" val="2153462637"/>
                    </a:ext>
                  </a:extLst>
                </a:gridCol>
              </a:tblGrid>
              <a:tr h="2882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Constellation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Country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Satellites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Frequency Bands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Coverage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Status</a:t>
                      </a:r>
                    </a:p>
                  </a:txBody>
                  <a:tcPr marL="39266" marR="39266" marT="19633" marB="19633" anchor="ctr"/>
                </a:tc>
                <a:extLst>
                  <a:ext uri="{0D108BD9-81ED-4DB2-BD59-A6C34878D82A}">
                    <a16:rowId xmlns:a16="http://schemas.microsoft.com/office/drawing/2014/main" val="3163860078"/>
                  </a:ext>
                </a:extLst>
              </a:tr>
              <a:tr h="645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effectLst/>
                        </a:rPr>
                        <a:t>GPS</a:t>
                      </a:r>
                      <a:endParaRPr lang="en-US" sz="1600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USA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31 operational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>
                          <a:effectLst/>
                        </a:rPr>
                        <a:t>L1 (1575.42 MHz), L5 (1176.45 MHz)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Global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Fully operational</a:t>
                      </a:r>
                    </a:p>
                  </a:txBody>
                  <a:tcPr marL="39266" marR="39266" marT="19633" marB="19633" anchor="ctr"/>
                </a:tc>
                <a:extLst>
                  <a:ext uri="{0D108BD9-81ED-4DB2-BD59-A6C34878D82A}">
                    <a16:rowId xmlns:a16="http://schemas.microsoft.com/office/drawing/2014/main" val="2136776918"/>
                  </a:ext>
                </a:extLst>
              </a:tr>
              <a:tr h="536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effectLst/>
                        </a:rPr>
                        <a:t>GLONASS</a:t>
                      </a:r>
                      <a:endParaRPr lang="en-US" sz="1600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Russia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24 operational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 dirty="0">
                          <a:effectLst/>
                        </a:rPr>
                        <a:t>L1 (1602 MHz), L2 (1246 MHz)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Global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Fully operational</a:t>
                      </a:r>
                    </a:p>
                  </a:txBody>
                  <a:tcPr marL="39266" marR="39266" marT="19633" marB="19633" anchor="ctr"/>
                </a:tc>
                <a:extLst>
                  <a:ext uri="{0D108BD9-81ED-4DB2-BD59-A6C34878D82A}">
                    <a16:rowId xmlns:a16="http://schemas.microsoft.com/office/drawing/2014/main" val="287571667"/>
                  </a:ext>
                </a:extLst>
              </a:tr>
              <a:tr h="645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effectLst/>
                        </a:rPr>
                        <a:t>Galileo</a:t>
                      </a:r>
                      <a:endParaRPr lang="en-US" sz="1600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EU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28 operational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E1 (1575.42 MHz), E5a (1176.45 MHz)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Global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Fully operational</a:t>
                      </a:r>
                    </a:p>
                  </a:txBody>
                  <a:tcPr marL="39266" marR="39266" marT="19633" marB="19633" anchor="ctr"/>
                </a:tc>
                <a:extLst>
                  <a:ext uri="{0D108BD9-81ED-4DB2-BD59-A6C34878D82A}">
                    <a16:rowId xmlns:a16="http://schemas.microsoft.com/office/drawing/2014/main" val="2644537136"/>
                  </a:ext>
                </a:extLst>
              </a:tr>
              <a:tr h="645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effectLst/>
                        </a:rPr>
                        <a:t>BeiDou</a:t>
                      </a:r>
                      <a:endParaRPr lang="en-US" sz="1600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China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49 operational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 dirty="0">
                          <a:effectLst/>
                        </a:rPr>
                        <a:t>B1 (1561.098 MHz), B2 (1207.14 MHz)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Global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Fully operational</a:t>
                      </a:r>
                    </a:p>
                  </a:txBody>
                  <a:tcPr marL="39266" marR="39266" marT="19633" marB="19633" anchor="ctr"/>
                </a:tc>
                <a:extLst>
                  <a:ext uri="{0D108BD9-81ED-4DB2-BD59-A6C34878D82A}">
                    <a16:rowId xmlns:a16="http://schemas.microsoft.com/office/drawing/2014/main" val="1393541837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effectLst/>
                        </a:rPr>
                        <a:t>QZSS</a:t>
                      </a:r>
                      <a:endParaRPr lang="en-US" sz="1600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Japan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7 operational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L1, L5, L6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Asia-Pacific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Regional</a:t>
                      </a:r>
                    </a:p>
                  </a:txBody>
                  <a:tcPr marL="39266" marR="39266" marT="19633" marB="19633" anchor="ctr"/>
                </a:tc>
                <a:extLst>
                  <a:ext uri="{0D108BD9-81ED-4DB2-BD59-A6C34878D82A}">
                    <a16:rowId xmlns:a16="http://schemas.microsoft.com/office/drawing/2014/main" val="582769862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>
                          <a:solidFill>
                            <a:srgbClr val="FFC000"/>
                          </a:solidFill>
                          <a:effectLst/>
                        </a:rPr>
                        <a:t>NavIC</a:t>
                      </a:r>
                      <a:endParaRPr lang="en-US" sz="1600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India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7 operational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L5, S-band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India ±1500km</a:t>
                      </a:r>
                    </a:p>
                  </a:txBody>
                  <a:tcPr marL="39266" marR="39266" marT="19633" marB="196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Regional</a:t>
                      </a:r>
                    </a:p>
                  </a:txBody>
                  <a:tcPr marL="39266" marR="39266" marT="19633" marB="19633" anchor="ctr"/>
                </a:tc>
                <a:extLst>
                  <a:ext uri="{0D108BD9-81ED-4DB2-BD59-A6C34878D82A}">
                    <a16:rowId xmlns:a16="http://schemas.microsoft.com/office/drawing/2014/main" val="3361859233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648952-2CA8-1E3A-4767-33241716D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12" y="4893082"/>
            <a:ext cx="11104775" cy="1585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Benefits:</a:t>
            </a:r>
          </a:p>
          <a:p>
            <a:pPr lvl="1"/>
            <a:r>
              <a:rPr lang="en-IN" dirty="0"/>
              <a:t>More visible satellites (12+ typically), Better geometry → lower DOP</a:t>
            </a:r>
          </a:p>
          <a:p>
            <a:pPr lvl="1"/>
            <a:r>
              <a:rPr lang="en-IN" dirty="0"/>
              <a:t>Improved accuracy of at least 3-5 meters with Faster TTFF</a:t>
            </a:r>
          </a:p>
          <a:p>
            <a:pPr lvl="1"/>
            <a:r>
              <a:rPr lang="en-IN" dirty="0"/>
              <a:t>Better urban canyon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851830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B3E0A-6996-42D1-6FB8-1E39A00AE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8A77-8ABB-54F9-200A-69D5908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US" dirty="0"/>
              <a:t>SUPL Architecture: 2 Main components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2C8D64-0AC5-59B3-E670-7508B797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12" y="1508288"/>
            <a:ext cx="11104775" cy="48224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SET (SUPL Enabled Terminal)</a:t>
            </a:r>
            <a:endParaRPr lang="en-US" dirty="0"/>
          </a:p>
          <a:p>
            <a:pPr lvl="1"/>
            <a:r>
              <a:rPr lang="en-US" dirty="0"/>
              <a:t>Your mobile device</a:t>
            </a:r>
          </a:p>
          <a:p>
            <a:pPr lvl="1"/>
            <a:r>
              <a:rPr lang="en-US" dirty="0"/>
              <a:t>Contains SUPL client software</a:t>
            </a:r>
          </a:p>
          <a:p>
            <a:pPr lvl="1"/>
            <a:r>
              <a:rPr lang="en-US" dirty="0"/>
              <a:t>GPS/GNSS receiver</a:t>
            </a:r>
          </a:p>
          <a:p>
            <a:pPr lvl="1"/>
            <a:r>
              <a:rPr lang="en-US" dirty="0"/>
              <a:t>IP connectivity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2. SLP (SUPL Location Platform)</a:t>
            </a:r>
            <a:endParaRPr lang="en-US" dirty="0"/>
          </a:p>
          <a:p>
            <a:pPr lvl="1"/>
            <a:r>
              <a:rPr lang="en-US" dirty="0"/>
              <a:t>Network server (e.g., </a:t>
            </a:r>
            <a:r>
              <a:rPr lang="en-US" dirty="0">
                <a:hlinkClick r:id="rId2" tooltip="http://supl.google.com/"/>
              </a:rPr>
              <a:t>supl.google.com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Provides assistance data</a:t>
            </a:r>
          </a:p>
          <a:p>
            <a:pPr lvl="1"/>
            <a:r>
              <a:rPr lang="en-US" dirty="0"/>
              <a:t>Can calculate position (SET-Assisted mode)</a:t>
            </a:r>
          </a:p>
          <a:p>
            <a:pPr marL="228600" lvl="1" indent="0">
              <a:buNone/>
            </a:pPr>
            <a:r>
              <a:rPr lang="en-US" b="1" dirty="0"/>
              <a:t>SLP consists of:</a:t>
            </a:r>
            <a:endParaRPr lang="en-US" dirty="0"/>
          </a:p>
          <a:p>
            <a:pPr lvl="2"/>
            <a:r>
              <a:rPr lang="en-US" b="1" dirty="0"/>
              <a:t>SLC</a:t>
            </a:r>
            <a:r>
              <a:rPr lang="en-US" dirty="0"/>
              <a:t> (SUPL Location Center): Session management</a:t>
            </a:r>
          </a:p>
          <a:p>
            <a:pPr lvl="2"/>
            <a:r>
              <a:rPr lang="en-US" b="1" dirty="0"/>
              <a:t>SPC</a:t>
            </a:r>
            <a:r>
              <a:rPr lang="en-US" dirty="0"/>
              <a:t> (SUPL Positioning Center): Position calculation</a:t>
            </a:r>
          </a:p>
        </p:txBody>
      </p:sp>
    </p:spTree>
    <p:extLst>
      <p:ext uri="{BB962C8B-B14F-4D97-AF65-F5344CB8AC3E}">
        <p14:creationId xmlns:p14="http://schemas.microsoft.com/office/powerpoint/2010/main" val="2281177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5653FB-933D-3FEF-1C25-1E10AB1F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567" y="1609346"/>
            <a:ext cx="5194117" cy="704087"/>
          </a:xfrm>
        </p:spPr>
        <p:txBody>
          <a:bodyPr/>
          <a:lstStyle/>
          <a:p>
            <a:r>
              <a:rPr lang="en-US" dirty="0"/>
              <a:t>Network-Initiated (Proxy Mode)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E6265-3043-A47E-E115-6569818FA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567" y="2439162"/>
            <a:ext cx="5194117" cy="3571893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LCS Client → SLP: Location request (MLP) </a:t>
            </a:r>
          </a:p>
          <a:p>
            <a:pPr marL="342900" indent="-342900">
              <a:buAutoNum type="arabicPeriod"/>
            </a:pPr>
            <a:r>
              <a:rPr lang="en-US" dirty="0"/>
              <a:t>SLP → SET: SUPL INIT (trigger) </a:t>
            </a:r>
          </a:p>
          <a:p>
            <a:pPr marL="342900" indent="-342900">
              <a:buAutoNum type="arabicPeriod"/>
            </a:pPr>
            <a:r>
              <a:rPr lang="en-US" dirty="0"/>
              <a:t>SET → SLP: TLS connection established </a:t>
            </a:r>
          </a:p>
          <a:p>
            <a:pPr marL="342900" indent="-342900">
              <a:buAutoNum type="arabicPeriod"/>
            </a:pPr>
            <a:r>
              <a:rPr lang="en-US" dirty="0"/>
              <a:t>SET → SLP: SUPL POS INIT (capabilities) </a:t>
            </a:r>
          </a:p>
          <a:p>
            <a:pPr marL="342900" indent="-342900">
              <a:buAutoNum type="arabicPeriod"/>
            </a:pPr>
            <a:r>
              <a:rPr lang="en-US" dirty="0"/>
              <a:t>SLP → SET: SUPL POS (assistance data) </a:t>
            </a:r>
          </a:p>
          <a:p>
            <a:pPr marL="342900" indent="-342900">
              <a:buAutoNum type="arabicPeriod"/>
            </a:pPr>
            <a:r>
              <a:rPr lang="en-US" dirty="0"/>
              <a:t>SET ↔ SLP: SUPL POS (positioning protocol) </a:t>
            </a:r>
          </a:p>
          <a:p>
            <a:pPr marL="342900" indent="-342900">
              <a:buAutoNum type="arabicPeriod"/>
            </a:pPr>
            <a:r>
              <a:rPr lang="en-US" dirty="0"/>
              <a:t>SLP → SET: SUPL END (position result) </a:t>
            </a:r>
          </a:p>
          <a:p>
            <a:pPr marL="342900" indent="-342900">
              <a:buAutoNum type="arabicPeriod"/>
            </a:pPr>
            <a:r>
              <a:rPr lang="en-US" dirty="0"/>
              <a:t>SLP → LCS Client: Location response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1E26E-0E8E-EC48-62E6-4857BE931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2439163"/>
            <a:ext cx="5194116" cy="3571892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App → SET: Request location </a:t>
            </a:r>
          </a:p>
          <a:p>
            <a:pPr marL="342900" indent="-342900">
              <a:buAutoNum type="arabicPeriod"/>
            </a:pPr>
            <a:r>
              <a:rPr lang="en-US" dirty="0"/>
              <a:t>SET → SLP: SUPL START (request assistance) </a:t>
            </a:r>
          </a:p>
          <a:p>
            <a:pPr marL="342900" indent="-342900">
              <a:buAutoNum type="arabicPeriod"/>
            </a:pPr>
            <a:r>
              <a:rPr lang="en-US" dirty="0"/>
              <a:t>SLP → SET: SUPL RESPONSE (acknowledge) </a:t>
            </a:r>
          </a:p>
          <a:p>
            <a:pPr marL="342900" indent="-342900">
              <a:buAutoNum type="arabicPeriod"/>
            </a:pPr>
            <a:r>
              <a:rPr lang="en-US" dirty="0"/>
              <a:t>SET → SLP: SUPL POS INIT (request data) </a:t>
            </a:r>
          </a:p>
          <a:p>
            <a:pPr marL="342900" indent="-342900">
              <a:buAutoNum type="arabicPeriod"/>
            </a:pPr>
            <a:r>
              <a:rPr lang="en-US" dirty="0"/>
              <a:t>SLP → SET: SUPL POS (assistance data) </a:t>
            </a:r>
          </a:p>
          <a:p>
            <a:pPr marL="342900" indent="-342900">
              <a:buAutoNum type="arabicPeriod"/>
            </a:pPr>
            <a:r>
              <a:rPr lang="en-US" dirty="0"/>
              <a:t>SET: Calculate position locally </a:t>
            </a:r>
          </a:p>
          <a:p>
            <a:pPr marL="342900" indent="-342900">
              <a:buAutoNum type="arabicPeriod"/>
            </a:pPr>
            <a:r>
              <a:rPr lang="en-US" dirty="0"/>
              <a:t>SET → SLP: SUPL END (session complete) </a:t>
            </a:r>
          </a:p>
          <a:p>
            <a:pPr marL="342900" indent="-342900">
              <a:buAutoNum type="arabicPeriod"/>
            </a:pPr>
            <a:r>
              <a:rPr lang="en-US" dirty="0"/>
              <a:t>SET → App: Location delivered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6D98A-3D86-9018-1FAB-BDA3716CF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1609346"/>
            <a:ext cx="5194116" cy="704087"/>
          </a:xfrm>
        </p:spPr>
        <p:txBody>
          <a:bodyPr/>
          <a:lstStyle/>
          <a:p>
            <a:r>
              <a:rPr lang="en-US" dirty="0"/>
              <a:t>SET-Initiated (Non-Proxy Mode)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B644305-B7BE-1D26-94E1-69C743D08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5105"/>
            <a:ext cx="7729728" cy="782869"/>
          </a:xfrm>
        </p:spPr>
        <p:txBody>
          <a:bodyPr/>
          <a:lstStyle/>
          <a:p>
            <a:r>
              <a:rPr lang="en-US" dirty="0"/>
              <a:t>SUPL Session Flow</a:t>
            </a:r>
          </a:p>
        </p:txBody>
      </p:sp>
    </p:spTree>
    <p:extLst>
      <p:ext uri="{BB962C8B-B14F-4D97-AF65-F5344CB8AC3E}">
        <p14:creationId xmlns:p14="http://schemas.microsoft.com/office/powerpoint/2010/main" val="4249709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50EEF-1396-4C00-9767-008BA2D58D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84"/>
          <a:stretch/>
        </p:blipFill>
        <p:spPr>
          <a:xfrm>
            <a:off x="1570348" y="-367380"/>
            <a:ext cx="9051303" cy="697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67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7D62C3-378A-420D-8543-D3A35D19E6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54"/>
          <a:stretch/>
        </p:blipFill>
        <p:spPr>
          <a:xfrm>
            <a:off x="2292284" y="776599"/>
            <a:ext cx="7607431" cy="437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4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290B-E824-83BF-B931-DC3ACB49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1F5E30-5D8C-E4C6-687E-35A691428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883" y="1609346"/>
            <a:ext cx="5673802" cy="1403677"/>
          </a:xfrm>
        </p:spPr>
        <p:txBody>
          <a:bodyPr>
            <a:normAutofit/>
          </a:bodyPr>
          <a:lstStyle/>
          <a:p>
            <a:r>
              <a:rPr lang="en-US" sz="1800" dirty="0"/>
              <a:t>SET-Based (MS-Based)</a:t>
            </a:r>
          </a:p>
          <a:p>
            <a:r>
              <a:rPr lang="en-US" sz="1800" b="1" i="1" dirty="0"/>
              <a:t>"Device measures </a:t>
            </a:r>
          </a:p>
          <a:p>
            <a:r>
              <a:rPr lang="en-US" sz="1800" b="1" i="1" dirty="0"/>
              <a:t>and calculates"</a:t>
            </a:r>
            <a:endParaRPr lang="en-US" sz="18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24AE4-9A9C-D3DF-60F3-99329AEE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6790" y="3269502"/>
            <a:ext cx="4736893" cy="2891456"/>
          </a:xfrm>
        </p:spPr>
        <p:txBody>
          <a:bodyPr/>
          <a:lstStyle/>
          <a:p>
            <a:r>
              <a:rPr lang="en-US" dirty="0"/>
              <a:t>SLP provides assistance data</a:t>
            </a:r>
          </a:p>
          <a:p>
            <a:r>
              <a:rPr lang="en-US" dirty="0"/>
              <a:t>SET acquires satellites</a:t>
            </a:r>
          </a:p>
          <a:p>
            <a:r>
              <a:rPr lang="en-US" dirty="0"/>
              <a:t>SET calculates position locally</a:t>
            </a:r>
          </a:p>
          <a:p>
            <a:r>
              <a:rPr lang="en-US" dirty="0"/>
              <a:t>Better privacy, works offline after assistance</a:t>
            </a:r>
          </a:p>
          <a:p>
            <a:r>
              <a:rPr lang="en-US" b="1" dirty="0"/>
              <a:t>Preferred by Android devices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07AE1-7120-59E2-1171-66273F493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6769" y="3269502"/>
            <a:ext cx="4736892" cy="2891456"/>
          </a:xfrm>
        </p:spPr>
        <p:txBody>
          <a:bodyPr/>
          <a:lstStyle/>
          <a:p>
            <a:r>
              <a:rPr lang="en-US" dirty="0"/>
              <a:t>SLP provides assistance data</a:t>
            </a:r>
          </a:p>
          <a:p>
            <a:r>
              <a:rPr lang="en-US" dirty="0"/>
              <a:t>SET makes GPS measurements</a:t>
            </a:r>
          </a:p>
          <a:p>
            <a:r>
              <a:rPr lang="en-US" dirty="0"/>
              <a:t>SET sends measurements to SLP</a:t>
            </a:r>
          </a:p>
          <a:p>
            <a:r>
              <a:rPr lang="en-US" dirty="0"/>
              <a:t>SLP calculates and returns position</a:t>
            </a:r>
          </a:p>
          <a:p>
            <a:r>
              <a:rPr lang="en-US" dirty="0"/>
              <a:t>Better accuracy, lower device power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14B99-8B4D-FB2A-8C71-BA8C3AEC7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5" y="1609346"/>
            <a:ext cx="5673801" cy="1403677"/>
          </a:xfrm>
        </p:spPr>
        <p:txBody>
          <a:bodyPr>
            <a:normAutofit/>
          </a:bodyPr>
          <a:lstStyle/>
          <a:p>
            <a:r>
              <a:rPr lang="en-US" sz="1800" dirty="0"/>
              <a:t>SET-Assisted (MS-Assisted)</a:t>
            </a:r>
          </a:p>
          <a:p>
            <a:r>
              <a:rPr lang="en-US" sz="1800" b="1" i="1" dirty="0"/>
              <a:t>"Device measures, </a:t>
            </a:r>
          </a:p>
          <a:p>
            <a:r>
              <a:rPr lang="en-US" sz="1800" b="1" i="1" dirty="0"/>
              <a:t>network calculates"</a:t>
            </a:r>
            <a:endParaRPr lang="en-US" sz="1800" i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9F15AC-6B6F-5F6D-FC57-E683FFC2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5105"/>
            <a:ext cx="7729728" cy="782869"/>
          </a:xfrm>
        </p:spPr>
        <p:txBody>
          <a:bodyPr/>
          <a:lstStyle/>
          <a:p>
            <a:r>
              <a:rPr lang="en-US" dirty="0"/>
              <a:t>Position Calculation Methods</a:t>
            </a:r>
          </a:p>
        </p:txBody>
      </p:sp>
    </p:spTree>
    <p:extLst>
      <p:ext uri="{BB962C8B-B14F-4D97-AF65-F5344CB8AC3E}">
        <p14:creationId xmlns:p14="http://schemas.microsoft.com/office/powerpoint/2010/main" val="1727944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8671B3-97C9-48D4-A9AE-52D4028A98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64"/>
          <a:stretch/>
        </p:blipFill>
        <p:spPr>
          <a:xfrm>
            <a:off x="1395166" y="171392"/>
            <a:ext cx="9916801" cy="616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18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20060F-29A4-441D-95CA-409A71BEB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54"/>
          <a:stretch/>
        </p:blipFill>
        <p:spPr>
          <a:xfrm>
            <a:off x="1408285" y="453452"/>
            <a:ext cx="9375430" cy="496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51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3034B-6AFD-4A1D-895F-D049F285BB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4"/>
          <a:stretch/>
        </p:blipFill>
        <p:spPr>
          <a:xfrm>
            <a:off x="1151739" y="355453"/>
            <a:ext cx="9888521" cy="57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10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FD59BF-614E-4F69-88C4-3B09C92A9F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51"/>
          <a:stretch/>
        </p:blipFill>
        <p:spPr>
          <a:xfrm>
            <a:off x="1466850" y="544398"/>
            <a:ext cx="9258300" cy="495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554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066B1-DC92-A48C-C1B6-E233EC027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A413D-C5AC-3519-0A73-301027A0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rmAutofit fontScale="90000"/>
          </a:bodyPr>
          <a:lstStyle/>
          <a:p>
            <a:r>
              <a:rPr lang="en-US" dirty="0"/>
              <a:t>The Impact of SUPL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950D7-2C1F-3259-F252-3421B854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12" y="1508288"/>
            <a:ext cx="11104775" cy="48224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impact of SUPL on GPS performance is dramatic: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C000"/>
                </a:solidFill>
              </a:rPr>
              <a:t>Time To First Fix: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r>
              <a:rPr lang="en-US" dirty="0"/>
              <a:t>Reduced from 30-60 seconds (cold start) to 5-10 seconds with SUPL assistance—a 6-10× improvement.</a:t>
            </a:r>
          </a:p>
          <a:p>
            <a:r>
              <a:rPr lang="en-US" b="1" dirty="0">
                <a:solidFill>
                  <a:srgbClr val="FFC000"/>
                </a:solidFill>
              </a:rPr>
              <a:t>Accuracy: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r>
              <a:rPr lang="en-US" dirty="0"/>
              <a:t>Improved from 10-30 meters (standalone GPS) to 5-10 meters with SUPL assistance, and 3-5 meters when combining multiple satellite constellations.</a:t>
            </a:r>
          </a:p>
          <a:p>
            <a:r>
              <a:rPr lang="en-US" b="1" dirty="0">
                <a:solidFill>
                  <a:srgbClr val="FFC000"/>
                </a:solidFill>
              </a:rPr>
              <a:t>Power Consumption: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r>
              <a:rPr lang="en-US" dirty="0"/>
              <a:t>Reduced by approximately 90% for position acquisition because the GPS receiver is active for only 5-10 seconds instead of 30-60 seconds.</a:t>
            </a:r>
          </a:p>
          <a:p>
            <a:r>
              <a:rPr lang="en-US" b="1" dirty="0">
                <a:solidFill>
                  <a:srgbClr val="FFC000"/>
                </a:solidFill>
              </a:rPr>
              <a:t>Reliability in Weak Signals: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r>
              <a:rPr lang="en-US" dirty="0"/>
              <a:t>With acquisition assistance, GPS receivers can often acquire and track signals that would be impossible to find through blind search, improving performance indoors and in urban environments.</a:t>
            </a:r>
          </a:p>
          <a:p>
            <a:r>
              <a:rPr lang="en-US" b="1" dirty="0">
                <a:solidFill>
                  <a:srgbClr val="FFC000"/>
                </a:solidFill>
              </a:rPr>
              <a:t>User Experience: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r>
              <a:rPr lang="en-US" dirty="0"/>
              <a:t>The difference between waiting 60 seconds and waiting 5 seconds for your first GPS fix is the difference between frustration and satisfaction. SUPL makes GPS practical for real-world use.</a:t>
            </a:r>
          </a:p>
        </p:txBody>
      </p:sp>
    </p:spTree>
    <p:extLst>
      <p:ext uri="{BB962C8B-B14F-4D97-AF65-F5344CB8AC3E}">
        <p14:creationId xmlns:p14="http://schemas.microsoft.com/office/powerpoint/2010/main" val="3911745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FD78A-C316-CBF1-C100-551C38F4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30CAD-C99D-91BE-55B4-C7DDA1A2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85840"/>
            <a:ext cx="7729728" cy="732133"/>
          </a:xfrm>
        </p:spPr>
        <p:txBody>
          <a:bodyPr>
            <a:noAutofit/>
          </a:bodyPr>
          <a:lstStyle/>
          <a:p>
            <a:r>
              <a:rPr lang="en-US" sz="2000"/>
              <a:t>The Impact of SUPL: Performance Metrics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8D8B0-A96D-724C-67CE-5DD55F6CF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12" y="1508288"/>
            <a:ext cx="11104775" cy="42544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Time To First Fix (TTFF):</a:t>
            </a: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19DCC6-88B5-79A7-E3B8-27CB9F568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606657"/>
              </p:ext>
            </p:extLst>
          </p:nvPr>
        </p:nvGraphicFramePr>
        <p:xfrm>
          <a:off x="2231136" y="2051284"/>
          <a:ext cx="7731124" cy="1847850"/>
        </p:xfrm>
        <a:graphic>
          <a:graphicData uri="http://schemas.openxmlformats.org/drawingml/2006/table">
            <a:tbl>
              <a:tblPr/>
              <a:tblGrid>
                <a:gridCol w="1932781">
                  <a:extLst>
                    <a:ext uri="{9D8B030D-6E8A-4147-A177-3AD203B41FA5}">
                      <a16:colId xmlns:a16="http://schemas.microsoft.com/office/drawing/2014/main" val="3718684484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1350258279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3979482926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1641121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Scenario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Standalone GPS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A-GPS (SUPL)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Improvement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32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Cold Start</a:t>
                      </a:r>
                      <a:endParaRPr 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30-60 seconds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5-10 seconds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6-10x faster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884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Warm Start</a:t>
                      </a:r>
                      <a:endParaRPr 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20-30 seconds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3-5 seconds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6-8x faster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75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Hot Start</a:t>
                      </a:r>
                      <a:endParaRPr 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5-10 seconds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1-3 seconds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3-5x faster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252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Factory Test</a:t>
                      </a:r>
                      <a:endParaRPr 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2-5 minutes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5-10 seconds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24-60x faster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534575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AC6DD8-FDFB-A540-257F-4DD8F761B0A0}"/>
              </a:ext>
            </a:extLst>
          </p:cNvPr>
          <p:cNvSpPr txBox="1">
            <a:spLocks/>
          </p:cNvSpPr>
          <p:nvPr/>
        </p:nvSpPr>
        <p:spPr>
          <a:xfrm>
            <a:off x="543612" y="4058798"/>
            <a:ext cx="11104775" cy="2192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Definitions:</a:t>
            </a:r>
            <a:endParaRPr lang="en-US" dirty="0">
              <a:solidFill>
                <a:srgbClr val="FFC000"/>
              </a:solidFill>
            </a:endParaRP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Cold Start: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r>
              <a:rPr lang="en-US" dirty="0"/>
              <a:t>No almanac, ephemeris, time, or position (Practical scenario: device off &gt;4 hours)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Warm Start: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r>
              <a:rPr lang="en-US" dirty="0"/>
              <a:t>Has almanac but stale ephemeris, </a:t>
            </a:r>
            <a:r>
              <a:rPr lang="en-US" dirty="0" err="1"/>
              <a:t>utc</a:t>
            </a:r>
            <a:r>
              <a:rPr lang="en-US" dirty="0"/>
              <a:t> (Practical scenario: device off 1-4 hours)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Hot Start: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r>
              <a:rPr lang="en-US" dirty="0"/>
              <a:t>Recent almanac and ephemeris (Practical scenario: device off &lt;1 hour)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Factory Test:</a:t>
            </a:r>
            <a:r>
              <a:rPr lang="en-US" dirty="0">
                <a:solidFill>
                  <a:srgbClr val="FFC000"/>
                </a:solidFill>
              </a:rPr>
              <a:t> </a:t>
            </a:r>
            <a:r>
              <a:rPr lang="en-US" dirty="0"/>
              <a:t>New device, never had GPS fix</a:t>
            </a:r>
          </a:p>
        </p:txBody>
      </p:sp>
    </p:spTree>
    <p:extLst>
      <p:ext uri="{BB962C8B-B14F-4D97-AF65-F5344CB8AC3E}">
        <p14:creationId xmlns:p14="http://schemas.microsoft.com/office/powerpoint/2010/main" val="113336188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2452</TotalTime>
  <Words>2052</Words>
  <Application>Microsoft Office PowerPoint</Application>
  <PresentationFormat>Widescreen</PresentationFormat>
  <Paragraphs>288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-apple-system</vt:lpstr>
      <vt:lpstr>Aptos</vt:lpstr>
      <vt:lpstr>Arial</vt:lpstr>
      <vt:lpstr>Gill Sans MT</vt:lpstr>
      <vt:lpstr>Parcel</vt:lpstr>
      <vt:lpstr>Android  Positioning  Architecture</vt:lpstr>
      <vt:lpstr>Agenda</vt:lpstr>
      <vt:lpstr>Complete System Overview</vt:lpstr>
      <vt:lpstr>Complete Android-Qualcomm-SUPL Location Flow</vt:lpstr>
      <vt:lpstr>Android AOSP Stack For Location Services </vt:lpstr>
      <vt:lpstr>Qualcomm Hardware Architecture</vt:lpstr>
      <vt:lpstr>GNSS Engine Architecture</vt:lpstr>
      <vt:lpstr>PowerPoint Presentation</vt:lpstr>
      <vt:lpstr>The Location Challenge</vt:lpstr>
      <vt:lpstr>The Challenge of GPS</vt:lpstr>
      <vt:lpstr>The Solution: A-GPS with SUPL</vt:lpstr>
      <vt:lpstr>Enter SUPL: The Solution</vt:lpstr>
      <vt:lpstr>SUPL Introduction</vt:lpstr>
      <vt:lpstr>SUPL Protocol Overview</vt:lpstr>
      <vt:lpstr>SUPL 2.0: Beyond GPS, Multi-Constellation GNSS</vt:lpstr>
      <vt:lpstr>SUPL Architecture: 2 Main components</vt:lpstr>
      <vt:lpstr>SUPL Session Flow</vt:lpstr>
      <vt:lpstr>PowerPoint Presentation</vt:lpstr>
      <vt:lpstr>PowerPoint Presentation</vt:lpstr>
      <vt:lpstr>Position Calculation Methods</vt:lpstr>
      <vt:lpstr>PowerPoint Presentation</vt:lpstr>
      <vt:lpstr>PowerPoint Presentation</vt:lpstr>
      <vt:lpstr>PowerPoint Presentation</vt:lpstr>
      <vt:lpstr>PowerPoint Presentation</vt:lpstr>
      <vt:lpstr>The Impact of SUPL</vt:lpstr>
      <vt:lpstr>The Impact of SUPL: Performance 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Arkajyoti Bhattacharyay</dc:creator>
  <cp:lastModifiedBy>Arkajyoti Bhattacharyay</cp:lastModifiedBy>
  <cp:revision>41</cp:revision>
  <dcterms:created xsi:type="dcterms:W3CDTF">2026-01-05T19:21:53Z</dcterms:created>
  <dcterms:modified xsi:type="dcterms:W3CDTF">2026-01-09T09:55:34Z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46c77-3b58-4101-b463-cd3b3d516e4a_Enabled">
    <vt:lpwstr>true</vt:lpwstr>
  </property>
  <property fmtid="{D5CDD505-2E9C-101B-9397-08002B2CF9AE}" pid="3" name="MSIP_Label_3bb46c77-3b58-4101-b463-cd3b3d516e4a_SetDate">
    <vt:lpwstr>2026-01-06T04:44:25Z</vt:lpwstr>
  </property>
  <property fmtid="{D5CDD505-2E9C-101B-9397-08002B2CF9AE}" pid="4" name="MSIP_Label_3bb46c77-3b58-4101-b463-cd3b3d516e4a_Method">
    <vt:lpwstr>Privileged</vt:lpwstr>
  </property>
  <property fmtid="{D5CDD505-2E9C-101B-9397-08002B2CF9AE}" pid="5" name="MSIP_Label_3bb46c77-3b58-4101-b463-cd3b3d516e4a_Name">
    <vt:lpwstr>Non-Business</vt:lpwstr>
  </property>
  <property fmtid="{D5CDD505-2E9C-101B-9397-08002B2CF9AE}" pid="6" name="MSIP_Label_3bb46c77-3b58-4101-b463-cd3b3d516e4a_SiteId">
    <vt:lpwstr>311b3378-8e8a-4b5e-a33f-e80a3d8ba60a</vt:lpwstr>
  </property>
  <property fmtid="{D5CDD505-2E9C-101B-9397-08002B2CF9AE}" pid="7" name="MSIP_Label_3bb46c77-3b58-4101-b463-cd3b3d516e4a_ActionId">
    <vt:lpwstr>d4a0b280-686c-45d4-946b-fb945ef5c71c</vt:lpwstr>
  </property>
  <property fmtid="{D5CDD505-2E9C-101B-9397-08002B2CF9AE}" pid="8" name="MSIP_Label_3bb46c77-3b58-4101-b463-cd3b3d516e4a_ContentBits">
    <vt:lpwstr>0</vt:lpwstr>
  </property>
  <property fmtid="{D5CDD505-2E9C-101B-9397-08002B2CF9AE}" pid="9" name="MSIP_Label_3bb46c77-3b58-4101-b463-cd3b3d516e4a_Tag">
    <vt:lpwstr>10, 0, 1, 1</vt:lpwstr>
  </property>
</Properties>
</file>